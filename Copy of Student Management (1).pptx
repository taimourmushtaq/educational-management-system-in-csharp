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Noto Sans Symbols"/>
      <p:regular r:id="rId26"/>
      <p:bold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A0A6D9-666E-4708-828A-52FD703F80E5}">
  <a:tblStyle styleId="{C5A0A6D9-666E-4708-828A-52FD703F80E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chemeClr val="dk1"/>
          </a:solidFill>
        </a:fill>
      </a:tcStyle>
    </a:band1H>
    <a:band2H>
      <a:tcTxStyle/>
    </a:band2H>
    <a:band1V>
      <a:tcTxStyle/>
      <a:tcStyle>
        <a:fill>
          <a:solidFill>
            <a:schemeClr val="dk1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78AE91A6-4D63-4081-8FEE-B5761E952E43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chemeClr val="accent6"/>
          </a:solidFill>
        </a:fill>
      </a:tcStyle>
    </a:band1H>
    <a:band2H>
      <a:tcTxStyle/>
    </a:band2H>
    <a:band1V>
      <a:tcTxStyle/>
      <a:tcStyle>
        <a:fill>
          <a:solidFill>
            <a:schemeClr val="accent6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oboto-regular.fntdata"/><Relationship Id="rId21" Type="http://schemas.openxmlformats.org/officeDocument/2006/relationships/slide" Target="slides/slide14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NotoSansSymbols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NotoSansSymbol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SpaceGrotesk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7;p2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8" name="Google Shape;8;p2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9" name="Google Shape;9;p2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0" name="Google Shape;10;p2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" name="Google Shape;11;p2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3" name="Google Shape;13;p2"/>
          <p:cNvSpPr txBox="1"/>
          <p:nvPr>
            <p:ph type="title"/>
          </p:nvPr>
        </p:nvSpPr>
        <p:spPr>
          <a:xfrm>
            <a:off x="228600" y="1854000"/>
            <a:ext cx="5257440" cy="2400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6341040" y="1006920"/>
            <a:ext cx="257364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_1" type="blank">
  <p:cSld name="BLANK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8" name="Google Shape;18;p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223920" y="3359160"/>
            <a:ext cx="626544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28600" y="632880"/>
            <a:ext cx="7299360" cy="264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7" name="Google Shape;27;p4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3952080" y="2882880"/>
            <a:ext cx="4962960" cy="203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" name="Google Shape;32;p4"/>
          <p:cNvSpPr txBox="1"/>
          <p:nvPr>
            <p:ph idx="2" type="title"/>
          </p:nvPr>
        </p:nvSpPr>
        <p:spPr>
          <a:xfrm>
            <a:off x="7647120" y="1546200"/>
            <a:ext cx="1267920" cy="11077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228600" y="1006920"/>
            <a:ext cx="257364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5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36" name="Google Shape;36;p5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7" name="Google Shape;37;p5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38" name="Google Shape;38;p5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" name="Google Shape;39;p5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" name="Google Shape;40;p5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41" name="Google Shape;41;p5"/>
          <p:cNvSpPr txBox="1"/>
          <p:nvPr>
            <p:ph type="title"/>
          </p:nvPr>
        </p:nvSpPr>
        <p:spPr>
          <a:xfrm>
            <a:off x="228600" y="863280"/>
            <a:ext cx="556236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6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45" name="Google Shape;45;p6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6" name="Google Shape;46;p6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47" name="Google Shape;47;p6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" name="Google Shape;48;p6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9" name="Google Shape;49;p6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50" name="Google Shape;50;p6"/>
          <p:cNvSpPr txBox="1"/>
          <p:nvPr>
            <p:ph hasCustomPrompt="1"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2_1">
  <p:cSld name="BLANK_1_1_1_1_2_1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7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53" name="Google Shape;53;p7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54" name="Google Shape;54;p7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55" name="Google Shape;55;p7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" name="Google Shape;56;p7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" name="Google Shape;57;p7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4339080"/>
            <a:ext cx="868644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7"/>
          <p:cNvSpPr txBox="1"/>
          <p:nvPr>
            <p:ph idx="2" type="title"/>
          </p:nvPr>
        </p:nvSpPr>
        <p:spPr>
          <a:xfrm>
            <a:off x="8462520" y="188748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7"/>
          <p:cNvSpPr txBox="1"/>
          <p:nvPr>
            <p:ph idx="3" type="title"/>
          </p:nvPr>
        </p:nvSpPr>
        <p:spPr>
          <a:xfrm>
            <a:off x="8462520" y="92484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7"/>
          <p:cNvSpPr txBox="1"/>
          <p:nvPr>
            <p:ph idx="4" type="title"/>
          </p:nvPr>
        </p:nvSpPr>
        <p:spPr>
          <a:xfrm>
            <a:off x="8462520" y="236880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7"/>
          <p:cNvSpPr txBox="1"/>
          <p:nvPr>
            <p:ph idx="5" type="title"/>
          </p:nvPr>
        </p:nvSpPr>
        <p:spPr>
          <a:xfrm>
            <a:off x="8462520" y="285012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7"/>
          <p:cNvSpPr txBox="1"/>
          <p:nvPr>
            <p:ph idx="6" type="title"/>
          </p:nvPr>
        </p:nvSpPr>
        <p:spPr>
          <a:xfrm>
            <a:off x="8462520" y="44388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7"/>
          <p:cNvSpPr txBox="1"/>
          <p:nvPr>
            <p:ph idx="7" type="title"/>
          </p:nvPr>
        </p:nvSpPr>
        <p:spPr>
          <a:xfrm>
            <a:off x="8462520" y="140616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7"/>
          <p:cNvSpPr txBox="1"/>
          <p:nvPr>
            <p:ph idx="8" type="title"/>
          </p:nvPr>
        </p:nvSpPr>
        <p:spPr>
          <a:xfrm>
            <a:off x="8462520" y="333144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7"/>
          <p:cNvSpPr txBox="1"/>
          <p:nvPr>
            <p:ph idx="9" type="title"/>
          </p:nvPr>
        </p:nvSpPr>
        <p:spPr>
          <a:xfrm>
            <a:off x="8462520" y="3812760"/>
            <a:ext cx="452520" cy="310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">
  <p:cSld name="TITLE_ONLY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8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69" name="Google Shape;69;p8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70" name="Google Shape;70;p8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71" name="Google Shape;71;p8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2" name="Google Shape;72;p8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74" name="Google Shape;74;p8"/>
          <p:cNvSpPr txBox="1"/>
          <p:nvPr>
            <p:ph type="title"/>
          </p:nvPr>
        </p:nvSpPr>
        <p:spPr>
          <a:xfrm>
            <a:off x="228600" y="4339080"/>
            <a:ext cx="868644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2">
  <p:cSld name="TITLE_ONLY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9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77" name="Google Shape;77;p9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78" name="Google Shape;78;p9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79" name="Google Shape;79;p9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" name="Google Shape;80;p9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82" name="Google Shape;82;p9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2">
  <p:cSld name="BLANK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0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85" name="Google Shape;85;p10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86" name="Google Shape;86;p10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87" name="Google Shape;87;p10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8" name="Google Shape;88;p10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9" name="Google Shape;89;p10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90" name="Google Shape;90;p10"/>
          <p:cNvSpPr txBox="1"/>
          <p:nvPr>
            <p:ph type="title"/>
          </p:nvPr>
        </p:nvSpPr>
        <p:spPr>
          <a:xfrm>
            <a:off x="228600" y="3529440"/>
            <a:ext cx="8686800" cy="1384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">
  <p:cSld name="BLANK_1_1_1_1_1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1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93" name="Google Shape;93;p11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94" name="Google Shape;94;p11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95" name="Google Shape;95;p11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" name="Google Shape;96;p11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" name="Google Shape;97;p11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98" name="Google Shape;98;p11"/>
          <p:cNvSpPr txBox="1"/>
          <p:nvPr>
            <p:ph type="title"/>
          </p:nvPr>
        </p:nvSpPr>
        <p:spPr>
          <a:xfrm>
            <a:off x="228600" y="228600"/>
            <a:ext cx="86868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2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01" name="Google Shape;101;p12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02" name="Google Shape;102;p12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03" name="Google Shape;103;p12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" name="Google Shape;104;p12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06" name="Google Shape;106;p12"/>
          <p:cNvSpPr txBox="1"/>
          <p:nvPr>
            <p:ph type="title"/>
          </p:nvPr>
        </p:nvSpPr>
        <p:spPr>
          <a:xfrm>
            <a:off x="228600" y="434268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7" name="Google Shape;107;p12"/>
          <p:cNvSpPr txBox="1"/>
          <p:nvPr>
            <p:ph idx="2" type="title"/>
          </p:nvPr>
        </p:nvSpPr>
        <p:spPr>
          <a:xfrm>
            <a:off x="228600" y="829080"/>
            <a:ext cx="2399400" cy="522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8" name="Google Shape;108;p12"/>
          <p:cNvSpPr txBox="1"/>
          <p:nvPr>
            <p:ph idx="3" type="title"/>
          </p:nvPr>
        </p:nvSpPr>
        <p:spPr>
          <a:xfrm>
            <a:off x="228600" y="3313440"/>
            <a:ext cx="2399400" cy="522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9" name="Google Shape;109;p12"/>
          <p:cNvSpPr txBox="1"/>
          <p:nvPr>
            <p:ph idx="4" type="title"/>
          </p:nvPr>
        </p:nvSpPr>
        <p:spPr>
          <a:xfrm>
            <a:off x="228600" y="2071080"/>
            <a:ext cx="2399400" cy="522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741480" y="632880"/>
            <a:ext cx="5173560" cy="362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1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13" name="Google Shape;113;p1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14" name="Google Shape;114;p1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15" name="Google Shape;115;p1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18" name="Google Shape;118;p13"/>
          <p:cNvSpPr txBox="1"/>
          <p:nvPr>
            <p:ph type="title"/>
          </p:nvPr>
        </p:nvSpPr>
        <p:spPr>
          <a:xfrm>
            <a:off x="228600" y="2513880"/>
            <a:ext cx="3550320" cy="2400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9" name="Google Shape;119;p13"/>
          <p:cNvSpPr/>
          <p:nvPr/>
        </p:nvSpPr>
        <p:spPr>
          <a:xfrm>
            <a:off x="4400280" y="3978360"/>
            <a:ext cx="4447800" cy="492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b="0" lang="en-US" sz="10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-US" sz="100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b="0" lang="en-US" sz="10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b="1" lang="en-US" sz="100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Freepik</a:t>
            </a:r>
            <a:r>
              <a:rPr b="0" lang="en-US" sz="10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sz="1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">
  <p:cSld name="BLANK_1_1_1_1_1_1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4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22" name="Google Shape;122;p14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23" name="Google Shape;123;p14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24" name="Google Shape;124;p14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" name="Google Shape;125;p14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">
  <p:cSld name="BLANK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5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30" name="Google Shape;130;p15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31" name="Google Shape;131;p15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6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37" name="Google Shape;137;p16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38" name="Google Shape;138;p16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" name="Google Shape;140;p16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41" name="Google Shape;141;p16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2" name="Google Shape;142;p16"/>
          <p:cNvSpPr txBox="1"/>
          <p:nvPr>
            <p:ph idx="1"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7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45" name="Google Shape;145;p17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6" name="Google Shape;146;p17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47" name="Google Shape;147;p17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" name="Google Shape;148;p17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" name="Google Shape;149;p17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50" name="Google Shape;150;p17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5319720" y="1351080"/>
            <a:ext cx="3595320" cy="356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8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55" name="Google Shape;155;p18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56" name="Google Shape;156;p18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59" name="Google Shape;159;p18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9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63" name="Google Shape;163;p19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64" name="Google Shape;164;p19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67" name="Google Shape;167;p19"/>
          <p:cNvSpPr txBox="1"/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idx="2"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0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72" name="Google Shape;172;p20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73" name="Google Shape;173;p20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74" name="Google Shape;174;p20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5" name="Google Shape;175;p20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6" name="Google Shape;176;p20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1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80" name="Google Shape;180;p21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81" name="Google Shape;181;p21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82" name="Google Shape;182;p21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3" name="Google Shape;183;p21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4" name="Google Shape;184;p21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27700" lIns="32400" spcFirstLastPara="1" rIns="32400" wrap="square" tIns="27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85" name="Google Shape;185;p21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90" name="Google Shape;190;p24"/>
          <p:cNvSpPr txBox="1"/>
          <p:nvPr>
            <p:ph type="title"/>
          </p:nvPr>
        </p:nvSpPr>
        <p:spPr>
          <a:xfrm>
            <a:off x="228600" y="4176000"/>
            <a:ext cx="2657520" cy="738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-light-2" type="blank">
  <p:cSld name="BLANK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_1">
  <p:cSld name="CUSTOM_2_1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5" name="Google Shape;195;p27"/>
          <p:cNvSpPr txBox="1"/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_1_1">
  <p:cSld name="CUSTOM_2_1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8" name="Google Shape;198;p28"/>
          <p:cNvSpPr txBox="1"/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9" name="Google Shape;199;p28"/>
          <p:cNvSpPr txBox="1"/>
          <p:nvPr>
            <p:ph idx="2"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idx="1" type="subTitle"/>
          </p:nvPr>
        </p:nvSpPr>
        <p:spPr>
          <a:xfrm>
            <a:off x="1616363" y="4530301"/>
            <a:ext cx="5580510" cy="531540"/>
          </a:xfrm>
          <a:prstGeom prst="rect">
            <a:avLst/>
          </a:prstGeom>
          <a:solidFill>
            <a:srgbClr val="99F5FE"/>
          </a:solidFill>
          <a:ln cap="flat" cmpd="sng" w="38100">
            <a:solidFill>
              <a:srgbClr val="66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Federal Urdu University of Arts, Science and Technology Islamabad</a:t>
            </a:r>
            <a:endParaRPr b="1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9"/>
          <p:cNvSpPr txBox="1"/>
          <p:nvPr>
            <p:ph type="title"/>
          </p:nvPr>
        </p:nvSpPr>
        <p:spPr>
          <a:xfrm>
            <a:off x="1330036" y="1839184"/>
            <a:ext cx="5257440" cy="146513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Educational Institute Management System</a:t>
            </a:r>
            <a:endParaRPr b="0" sz="54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6" name="Google Shape;206;p29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7" name="Google Shape;2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32" y="586382"/>
            <a:ext cx="1226704" cy="122670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177224" y="3634549"/>
            <a:ext cx="274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Presented To: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Mr. Muhammad Aqib Rauf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6291710" y="3461403"/>
            <a:ext cx="2748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Presented By: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Abdur R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hman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Binyameen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Mateen Arshad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Taimour Mushtaq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29"/>
          <p:cNvPicPr preferRelativeResize="0"/>
          <p:nvPr/>
        </p:nvPicPr>
        <p:blipFill rotWithShape="1">
          <a:blip r:embed="rId4">
            <a:alphaModFix/>
          </a:blip>
          <a:srcRect b="0" l="1858" r="1858" t="0"/>
          <a:stretch/>
        </p:blipFill>
        <p:spPr>
          <a:xfrm>
            <a:off x="6587476" y="666220"/>
            <a:ext cx="2250368" cy="2586524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type="title"/>
          </p:nvPr>
        </p:nvSpPr>
        <p:spPr>
          <a:xfrm>
            <a:off x="0" y="157382"/>
            <a:ext cx="8695800" cy="6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None/>
            </a:pPr>
            <a:r>
              <a:rPr b="1" lang="en-US" sz="32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</a:t>
            </a:r>
            <a:r>
              <a:rPr b="1" lang="en-US" sz="3200">
                <a:latin typeface="Space Grotesk"/>
                <a:ea typeface="Space Grotesk"/>
                <a:cs typeface="Space Grotesk"/>
                <a:sym typeface="Space Grotesk"/>
              </a:rPr>
              <a:t>ntroduction</a:t>
            </a:r>
            <a:endParaRPr b="0" sz="3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30"/>
          <p:cNvCxnSpPr/>
          <p:nvPr/>
        </p:nvCxnSpPr>
        <p:spPr>
          <a:xfrm>
            <a:off x="-5040" y="685669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30"/>
          <p:cNvSpPr txBox="1"/>
          <p:nvPr/>
        </p:nvSpPr>
        <p:spPr>
          <a:xfrm>
            <a:off x="83425" y="804647"/>
            <a:ext cx="6151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Educational Institute Management System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desktop-based application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manages essential academic operations more efficiently.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system simplifies the handling </a:t>
            </a:r>
            <a:r>
              <a:rPr lang="en-US" sz="1800">
                <a:solidFill>
                  <a:schemeClr val="dk1"/>
                </a:solidFill>
              </a:rPr>
              <a:t>of educational system with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user-friendly interface.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6465" y="1409240"/>
            <a:ext cx="2864008" cy="304859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/>
          <p:nvPr/>
        </p:nvSpPr>
        <p:spPr>
          <a:xfrm>
            <a:off x="5672025" y="4634300"/>
            <a:ext cx="34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</a:t>
            </a:r>
            <a:endParaRPr sz="1800"/>
          </a:p>
        </p:txBody>
      </p:sp>
      <p:sp>
        <p:nvSpPr>
          <p:cNvPr id="220" name="Google Shape;220;p30"/>
          <p:cNvSpPr txBox="1"/>
          <p:nvPr/>
        </p:nvSpPr>
        <p:spPr>
          <a:xfrm>
            <a:off x="6538575" y="4634300"/>
            <a:ext cx="224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 1: Project Cycle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0" y="157382"/>
            <a:ext cx="8695800" cy="6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None/>
            </a:pPr>
            <a:r>
              <a:rPr b="1" lang="en-US" sz="3200">
                <a:latin typeface="Space Grotesk"/>
                <a:ea typeface="Space Grotesk"/>
                <a:cs typeface="Space Grotesk"/>
                <a:sym typeface="Space Grotesk"/>
              </a:rPr>
              <a:t>Intro (Cont…)</a:t>
            </a:r>
            <a:endParaRPr b="1" sz="32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226" name="Google Shape;226;p31"/>
          <p:cNvCxnSpPr/>
          <p:nvPr/>
        </p:nvCxnSpPr>
        <p:spPr>
          <a:xfrm>
            <a:off x="-5040" y="685669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31"/>
          <p:cNvSpPr txBox="1"/>
          <p:nvPr/>
        </p:nvSpPr>
        <p:spPr>
          <a:xfrm>
            <a:off x="219240" y="1451208"/>
            <a:ext cx="8695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especially suitable for small to medium-sized schools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using .NET and SQL Server, the system aims to reduce manual paperwork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This project is ideal for academic learning, allowing students to practice database design, form development, and backend integration while solving real-world problems in education management.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32"/>
          <p:cNvCxnSpPr/>
          <p:nvPr/>
        </p:nvCxnSpPr>
        <p:spPr>
          <a:xfrm>
            <a:off x="-150" y="647258"/>
            <a:ext cx="9144300" cy="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32"/>
          <p:cNvSpPr/>
          <p:nvPr/>
        </p:nvSpPr>
        <p:spPr>
          <a:xfrm rot="-5400000">
            <a:off x="1629030" y="2238750"/>
            <a:ext cx="2580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4" name="Google Shape;234;p32"/>
          <p:cNvGraphicFramePr/>
          <p:nvPr/>
        </p:nvGraphicFramePr>
        <p:xfrm>
          <a:off x="1550494" y="1010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{C5A0A6D9-666E-4708-828A-52FD703F80E5}</a:tableStyleId>
              </a:tblPr>
              <a:tblGrid>
                <a:gridCol w="1367875"/>
                <a:gridCol w="1558375"/>
                <a:gridCol w="1558375"/>
                <a:gridCol w="1558375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Modules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SMS JUIT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SMS KPIT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CMS Mashi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 Login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(Basic Login)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(Not Secure)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1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 Panel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</a:tr>
              <a:tr h="61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 System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sz="1600" u="none" cap="none" strike="noStrike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sz="1600" u="none" cap="none" strike="noStrike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1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Password Retrieval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32"/>
                    </a:solidFill>
                  </a:tcPr>
                </a:tc>
              </a:tr>
              <a:tr h="81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Scalable &amp; Secure Database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5" name="Google Shape;235;p32"/>
          <p:cNvSpPr txBox="1"/>
          <p:nvPr/>
        </p:nvSpPr>
        <p:spPr>
          <a:xfrm>
            <a:off x="2744377" y="162300"/>
            <a:ext cx="536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Literature Review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33"/>
          <p:cNvCxnSpPr/>
          <p:nvPr/>
        </p:nvCxnSpPr>
        <p:spPr>
          <a:xfrm>
            <a:off x="0" y="633482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33"/>
          <p:cNvSpPr txBox="1"/>
          <p:nvPr/>
        </p:nvSpPr>
        <p:spPr>
          <a:xfrm>
            <a:off x="2628378" y="-338926"/>
            <a:ext cx="458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 b="1" sz="3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510575" y="918127"/>
            <a:ext cx="79500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existing systems are either over-featured and expensive or too technical to deploy and maintain for smaller institutes.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problems: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Security.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Admin Panel.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Deficiency of Proper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on internet/servers.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essential checks and Password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scalability when built on lightweight DBs.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Customization is limited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4"/>
          <p:cNvCxnSpPr/>
          <p:nvPr/>
        </p:nvCxnSpPr>
        <p:spPr>
          <a:xfrm>
            <a:off x="0" y="633482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34"/>
          <p:cNvSpPr txBox="1"/>
          <p:nvPr/>
        </p:nvSpPr>
        <p:spPr>
          <a:xfrm>
            <a:off x="3435929" y="51973"/>
            <a:ext cx="458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138670" y="457117"/>
            <a:ext cx="70812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introduces a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affordable, and fully offline Desktop-Based Educational Institute Management System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specifically for smaller institutes.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offers: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security using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based login systems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fledge admin control panel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all required resources and full controls.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scheduling and attendance system with duplicate-protection.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operation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 server or internet required.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and reliable SQL Server database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secure record management and increase scalability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application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customization options (chatbots dev etc).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4"/>
          <p:cNvPicPr preferRelativeResize="0"/>
          <p:nvPr/>
        </p:nvPicPr>
        <p:blipFill rotWithShape="1">
          <a:blip r:embed="rId3">
            <a:alphaModFix/>
          </a:blip>
          <a:srcRect b="0" l="1858" r="1858" t="0"/>
          <a:stretch/>
        </p:blipFill>
        <p:spPr>
          <a:xfrm>
            <a:off x="7219873" y="1356929"/>
            <a:ext cx="1785582" cy="32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35"/>
          <p:cNvCxnSpPr/>
          <p:nvPr/>
        </p:nvCxnSpPr>
        <p:spPr>
          <a:xfrm>
            <a:off x="0" y="633482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35"/>
          <p:cNvSpPr txBox="1"/>
          <p:nvPr/>
        </p:nvSpPr>
        <p:spPr>
          <a:xfrm>
            <a:off x="2909781" y="126200"/>
            <a:ext cx="458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Methodology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5"/>
          <p:cNvPicPr preferRelativeResize="0"/>
          <p:nvPr/>
        </p:nvPicPr>
        <p:blipFill rotWithShape="1">
          <a:blip r:embed="rId3">
            <a:alphaModFix/>
          </a:blip>
          <a:srcRect b="14353" l="0" r="0" t="0"/>
          <a:stretch/>
        </p:blipFill>
        <p:spPr>
          <a:xfrm>
            <a:off x="258150" y="804800"/>
            <a:ext cx="8627699" cy="424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36"/>
          <p:cNvCxnSpPr/>
          <p:nvPr/>
        </p:nvCxnSpPr>
        <p:spPr>
          <a:xfrm>
            <a:off x="0" y="669853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36"/>
          <p:cNvSpPr txBox="1"/>
          <p:nvPr/>
        </p:nvSpPr>
        <p:spPr>
          <a:xfrm>
            <a:off x="2281521" y="-329720"/>
            <a:ext cx="458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Methodology (Cont…) </a:t>
            </a:r>
            <a:endParaRPr b="1" sz="3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646546" y="1034473"/>
            <a:ext cx="781169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Planning &amp; Design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Gather requirements for students, teachers, classes, and attendance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system modules (Student, Teacher, Timetable, Attendance, Login)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database structure (tables, primary/foreign keys, relationships)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basic UI layout/wireframes for form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SQL Server database with relationships and constraints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Windows Forms using C# and .NET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CRUD operations for all modules using ADO.NET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class scheduling and attendance logic with duplicate-prevention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authentication (Admin/Teacher/Student roles)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37"/>
          <p:cNvCxnSpPr/>
          <p:nvPr/>
        </p:nvCxnSpPr>
        <p:spPr>
          <a:xfrm>
            <a:off x="0" y="669853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37"/>
          <p:cNvSpPr txBox="1"/>
          <p:nvPr/>
        </p:nvSpPr>
        <p:spPr>
          <a:xfrm>
            <a:off x="2161696" y="5"/>
            <a:ext cx="458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Methodology (Cont…)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544946" y="1011599"/>
            <a:ext cx="742697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&amp; Deployment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data insertion, search, timetable creation, and attendance marking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login access for all user roles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 UI and database integration issues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final build (.exe), documentation, and project presentation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Institute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.NET (Windows Forms)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Server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 programming language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Studio 2022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4258431" y="2954633"/>
            <a:ext cx="376481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ADO.NET for database access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Eraser.IO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Draw.IO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 Office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Guna UI2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219240" y="76743"/>
            <a:ext cx="8695800" cy="6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3200">
                <a:latin typeface="Space Grotesk"/>
                <a:ea typeface="Space Grotesk"/>
                <a:cs typeface="Space Grotesk"/>
                <a:sym typeface="Space Grotesk"/>
              </a:rPr>
              <a:t>Results</a:t>
            </a:r>
            <a:endParaRPr b="0" sz="3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8" name="Google Shape;278;p38"/>
          <p:cNvCxnSpPr/>
          <p:nvPr/>
        </p:nvCxnSpPr>
        <p:spPr>
          <a:xfrm>
            <a:off x="-5040" y="593306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79" name="Google Shape;279;p38"/>
          <p:cNvGraphicFramePr/>
          <p:nvPr/>
        </p:nvGraphicFramePr>
        <p:xfrm>
          <a:off x="129309" y="674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{78AE91A6-4D63-4081-8FEE-B5761E952E43}</a:tableStyleId>
              </a:tblPr>
              <a:tblGrid>
                <a:gridCol w="3348175"/>
                <a:gridCol w="3348175"/>
              </a:tblGrid>
              <a:tr h="46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Previous Work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Work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93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MySQL / MS Access with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scalability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SQL Server</a:t>
                      </a: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with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relationships</a:t>
                      </a: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scalability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7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outdated UI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Clean, user-friendly, modern Windows Forms UI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password recovery features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 Password Retrieval system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7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secure login or single-user access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Role-based Login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(Admin, Teacher, Student)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attendance system</a:t>
                      </a: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or prone to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duplicate marking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 system</a:t>
                      </a: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with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duplicate-entry prevention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80" name="Google Shape;280;p38"/>
          <p:cNvPicPr preferRelativeResize="0"/>
          <p:nvPr/>
        </p:nvPicPr>
        <p:blipFill rotWithShape="1">
          <a:blip r:embed="rId3">
            <a:alphaModFix/>
          </a:blip>
          <a:srcRect b="0" l="1858" r="1858" t="0"/>
          <a:stretch/>
        </p:blipFill>
        <p:spPr>
          <a:xfrm>
            <a:off x="7037093" y="1354029"/>
            <a:ext cx="1877947" cy="308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219240" y="150634"/>
            <a:ext cx="8695800" cy="6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3200"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 b="0" sz="3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9"/>
          <p:cNvSpPr txBox="1"/>
          <p:nvPr>
            <p:ph idx="1" type="subTitle"/>
          </p:nvPr>
        </p:nvSpPr>
        <p:spPr>
          <a:xfrm>
            <a:off x="311604" y="979775"/>
            <a:ext cx="6661851" cy="3860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Educational Institute Management System provides a practical and efficient solution for managing essential school operations.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to be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yet fully functional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is ideal for academic learning as well as real-world use in small to medium-sized educational institutes.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structure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beginner-friendly interface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 it easy for users and developers to understand, use, and extend.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offers students an excellent opportunity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programming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system design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complete working application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real educational value.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supports hands-on learning by combining concepts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development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integration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one meaningful project.</a:t>
            </a:r>
            <a:endParaRPr/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287" name="Google Shape;287;p39"/>
          <p:cNvCxnSpPr/>
          <p:nvPr/>
        </p:nvCxnSpPr>
        <p:spPr>
          <a:xfrm>
            <a:off x="0" y="722615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onclusion" id="288" name="Google Shape;2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9437" y="2136629"/>
            <a:ext cx="2431828" cy="1546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>
            <p:ph type="title"/>
          </p:nvPr>
        </p:nvSpPr>
        <p:spPr>
          <a:xfrm>
            <a:off x="219240" y="150634"/>
            <a:ext cx="8695800" cy="6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3200">
                <a:latin typeface="Space Grotesk"/>
                <a:ea typeface="Space Grotesk"/>
                <a:cs typeface="Space Grotesk"/>
                <a:sym typeface="Space Grotesk"/>
              </a:rPr>
              <a:t>References</a:t>
            </a:r>
            <a:endParaRPr b="0" sz="3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0"/>
          <p:cNvSpPr txBox="1"/>
          <p:nvPr>
            <p:ph idx="1" type="subTitle"/>
          </p:nvPr>
        </p:nvSpPr>
        <p:spPr>
          <a:xfrm>
            <a:off x="219240" y="797914"/>
            <a:ext cx="5793633" cy="3860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Management System developed by Students of "Jaypee University of Information Technology“.</a:t>
            </a:r>
            <a:endParaRPr/>
          </a:p>
          <a:p>
            <a:pPr indent="-571500" lvl="0" marL="5715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Management System by "KRISHNA’S PRAGATI INSTITUTE OF TECHNOLOGY"</a:t>
            </a:r>
            <a:endParaRPr/>
          </a:p>
          <a:p>
            <a:pPr indent="-571500" lvl="0" marL="5715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Management System Project Report |System | Design .</a:t>
            </a:r>
            <a:endParaRPr/>
          </a:p>
          <a:p>
            <a:pPr indent="-571500" lvl="0" marL="5715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MashiAma/Student-Management-System: Implementation of Student Management System </a:t>
            </a:r>
            <a:endParaRPr/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295" name="Google Shape;295;p40"/>
          <p:cNvCxnSpPr/>
          <p:nvPr/>
        </p:nvCxnSpPr>
        <p:spPr>
          <a:xfrm>
            <a:off x="0" y="722615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aking Hands at the Conclusion of a Business Deal. Technology ..." id="296" name="Google Shape;29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2872" y="1671204"/>
            <a:ext cx="3038763" cy="2077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Google Shape;301;p41"/>
          <p:cNvCxnSpPr/>
          <p:nvPr/>
        </p:nvCxnSpPr>
        <p:spPr>
          <a:xfrm>
            <a:off x="0" y="4010760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41"/>
          <p:cNvSpPr txBox="1"/>
          <p:nvPr>
            <p:ph type="title"/>
          </p:nvPr>
        </p:nvSpPr>
        <p:spPr>
          <a:xfrm>
            <a:off x="528720" y="1404398"/>
            <a:ext cx="4403500" cy="23343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/>
              <a:t>Thank You For Your Cooperation</a:t>
            </a:r>
            <a:br>
              <a:rPr lang="en-US" sz="5400"/>
            </a:br>
            <a:br>
              <a:rPr lang="en-US" sz="5400"/>
            </a:br>
            <a:endParaRPr sz="5400"/>
          </a:p>
        </p:txBody>
      </p:sp>
      <p:cxnSp>
        <p:nvCxnSpPr>
          <p:cNvPr id="303" name="Google Shape;303;p41"/>
          <p:cNvCxnSpPr/>
          <p:nvPr/>
        </p:nvCxnSpPr>
        <p:spPr>
          <a:xfrm>
            <a:off x="-360" y="1132020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age result for tech gif" id="304" name="Google Shape;3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7730" y="1541642"/>
            <a:ext cx="3669971" cy="21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Google Shape;309;p42"/>
          <p:cNvCxnSpPr/>
          <p:nvPr/>
        </p:nvCxnSpPr>
        <p:spPr>
          <a:xfrm>
            <a:off x="0" y="4010760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42"/>
          <p:cNvCxnSpPr/>
          <p:nvPr/>
        </p:nvCxnSpPr>
        <p:spPr>
          <a:xfrm>
            <a:off x="-360" y="1132020"/>
            <a:ext cx="91443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42"/>
          <p:cNvSpPr txBox="1"/>
          <p:nvPr>
            <p:ph type="title"/>
          </p:nvPr>
        </p:nvSpPr>
        <p:spPr>
          <a:xfrm>
            <a:off x="870465" y="2245770"/>
            <a:ext cx="626544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'Animal' movie on OTT: Catch Ranbir Kapoor's movie on Netflix" id="312" name="Google Shape;31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9331" y="1332573"/>
            <a:ext cx="2544042" cy="2544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8650" y="1346075"/>
            <a:ext cx="3267950" cy="25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